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5C2-3D41-41C7-AD9A-E93FCF76EB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4D832-8241-4486-AD3E-681B866651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Lab4 AI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A widely used DNN model training and inference framework</a:t>
            </a:r>
          </a:p>
          <a:p>
            <a:r>
              <a:rPr lang="en-US" dirty="0"/>
              <a:t>Dataset</a:t>
            </a:r>
          </a:p>
          <a:p>
            <a:pPr lvl="1"/>
            <a:r>
              <a:rPr lang="en-US" dirty="0"/>
              <a:t>MNIST: Classify hand written digit images.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493" y="3736570"/>
            <a:ext cx="3716181" cy="2822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Dropout: randomly turn off some neurons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To reduce overfitting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F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orcing the network to learn more robust and generalizable features</a:t>
            </a:r>
            <a:endParaRPr lang="en-US" dirty="0"/>
          </a:p>
          <a:p>
            <a:r>
              <a:rPr lang="en-US" dirty="0"/>
              <a:t>2 conv + </a:t>
            </a:r>
            <a:r>
              <a:rPr lang="en-US" altLang="zh-CN" dirty="0"/>
              <a:t>pooling + 2 fc + </a:t>
            </a:r>
            <a:r>
              <a:rPr lang="en-US" altLang="zh-CN" dirty="0" err="1"/>
              <a:t>softmax</a:t>
            </a:r>
            <a:endParaRPr lang="en-US" altLang="zh-CN" dirty="0"/>
          </a:p>
          <a:p>
            <a:r>
              <a:rPr lang="en-US" dirty="0"/>
              <a:t>n*n*1 -&gt; n*n*32 -&gt; n*n*64 -&gt; n/2*n/2*64 </a:t>
            </a:r>
          </a:p>
          <a:p>
            <a:r>
              <a:rPr lang="en-US" dirty="0"/>
              <a:t>-&gt; 9216 -&gt; 128 -&gt;10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520" y="3241963"/>
            <a:ext cx="3487043" cy="3449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C9CF7-B7E2-4DE1-8A07-305A669A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en-US" altLang="zh-CN" dirty="0" err="1"/>
              <a:t>Autograd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002B5D-0B90-4CCA-9CBC-484358DEC6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5" y="1851155"/>
            <a:ext cx="490537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6153517-3BC0-4CE0-A1CE-80DAAC95C235}"/>
              </a:ext>
            </a:extLst>
          </p:cNvPr>
          <p:cNvSpPr txBox="1"/>
          <p:nvPr/>
        </p:nvSpPr>
        <p:spPr>
          <a:xfrm>
            <a:off x="893618" y="1907771"/>
            <a:ext cx="51247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defining the model,</a:t>
            </a:r>
            <a:r>
              <a:rPr lang="zh-CN" altLang="en-US" dirty="0"/>
              <a:t> </a:t>
            </a:r>
            <a:r>
              <a:rPr lang="en-US" altLang="zh-CN" dirty="0"/>
              <a:t>developers</a:t>
            </a:r>
            <a:r>
              <a:rPr lang="zh-CN" altLang="en-US" dirty="0"/>
              <a:t> </a:t>
            </a:r>
            <a:r>
              <a:rPr lang="en-US" altLang="zh-CN" dirty="0"/>
              <a:t>actually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defining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graph in the forward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operator, gradient calculation was defined in the backward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automatically construct the graph for gradient according to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using </a:t>
            </a:r>
            <a:r>
              <a:rPr lang="en-US" dirty="0" err="1"/>
              <a:t>loss.backward</a:t>
            </a:r>
            <a:r>
              <a:rPr lang="en-US" dirty="0"/>
              <a:t>(), you get the gradient from loss to each tensor.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calling </a:t>
            </a:r>
            <a:r>
              <a:rPr lang="en-US" dirty="0" err="1"/>
              <a:t>optimizer.step</a:t>
            </a:r>
            <a:r>
              <a:rPr lang="en-US" dirty="0"/>
              <a:t>(), </a:t>
            </a:r>
            <a:r>
              <a:rPr lang="en-US" dirty="0" err="1"/>
              <a:t>pytorch</a:t>
            </a:r>
            <a:r>
              <a:rPr lang="en-US" dirty="0"/>
              <a:t> apply the gradient to each tensor storing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may get the gradient from loss to x by </a:t>
            </a:r>
            <a:r>
              <a:rPr lang="en-US" dirty="0" err="1"/>
              <a:t>x.grad</a:t>
            </a:r>
            <a:r>
              <a:rPr lang="en-US" dirty="0"/>
              <a:t>, after </a:t>
            </a:r>
            <a:r>
              <a:rPr lang="en-US" dirty="0" err="1"/>
              <a:t>loss.backward</a:t>
            </a:r>
            <a:r>
              <a:rPr lang="en-US"/>
              <a:t>().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3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model.py</a:t>
            </a:r>
          </a:p>
          <a:p>
            <a:pPr lvl="1"/>
            <a:r>
              <a:rPr lang="en-US" dirty="0"/>
              <a:t>batch size set to 64</a:t>
            </a:r>
          </a:p>
          <a:p>
            <a:pPr lvl="1"/>
            <a:r>
              <a:rPr lang="en-US" dirty="0"/>
              <a:t>learning rate set to 0.001</a:t>
            </a:r>
          </a:p>
          <a:p>
            <a:pPr lvl="1"/>
            <a:r>
              <a:rPr lang="en-US" dirty="0"/>
              <a:t>loss: </a:t>
            </a:r>
            <a:r>
              <a:rPr lang="en-US" dirty="0" err="1"/>
              <a:t>nll_loss</a:t>
            </a:r>
            <a:r>
              <a:rPr lang="en-US" dirty="0"/>
              <a:t> (negative log likelihood loss, or cross entropy loss with one-hot label)</a:t>
            </a:r>
          </a:p>
          <a:p>
            <a:pPr lvl="1"/>
            <a:r>
              <a:rPr lang="en-US" dirty="0"/>
              <a:t>6 epochs</a:t>
            </a:r>
          </a:p>
          <a:p>
            <a:r>
              <a:rPr lang="en-US" dirty="0"/>
              <a:t>In few minutes, you get the a usable model</a:t>
            </a:r>
          </a:p>
          <a:p>
            <a:pPr lvl="1"/>
            <a:r>
              <a:rPr lang="en-US" altLang="zh-CN" dirty="0"/>
              <a:t>with above 99% accuracy.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Adversarial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Algorithm: FGSM</a:t>
            </a:r>
          </a:p>
          <a:p>
            <a:pPr lvl="1"/>
            <a:r>
              <a:rPr lang="en-US" dirty="0"/>
              <a:t>Get the sign of the gradients from loss to input.</a:t>
            </a:r>
          </a:p>
          <a:p>
            <a:pPr lvl="1"/>
            <a:r>
              <a:rPr lang="en-US" dirty="0"/>
              <a:t>Add the gradients to input x as perturbations.</a:t>
            </a:r>
          </a:p>
          <a:p>
            <a:pPr lvl="1"/>
            <a:r>
              <a:rPr lang="el-GR" dirty="0"/>
              <a:t>ε</a:t>
            </a:r>
            <a:r>
              <a:rPr lang="en-US" dirty="0"/>
              <a:t> </a:t>
            </a:r>
            <a:r>
              <a:rPr lang="en-US" altLang="zh-CN" dirty="0"/>
              <a:t>as the bound on perturbation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37" y="3535782"/>
            <a:ext cx="5955338" cy="9310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15" y="4336415"/>
            <a:ext cx="7628890" cy="2211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1.1 untargeted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the output class to be wrong</a:t>
            </a:r>
          </a:p>
          <a:p>
            <a:r>
              <a:rPr lang="en-US" dirty="0"/>
              <a:t>Requirements:</a:t>
            </a:r>
          </a:p>
          <a:p>
            <a:pPr lvl="1"/>
            <a:r>
              <a:rPr lang="el-GR" b="0" i="0" dirty="0">
                <a:solidFill>
                  <a:srgbClr val="202122"/>
                </a:solidFill>
                <a:effectLst/>
                <a:latin typeface="SBL BibLit"/>
              </a:rPr>
              <a:t>ε</a:t>
            </a:r>
            <a:r>
              <a:rPr lang="en-US" b="0" i="0" dirty="0">
                <a:solidFill>
                  <a:srgbClr val="202122"/>
                </a:solidFill>
                <a:effectLst/>
                <a:latin typeface="SBL BibLit"/>
              </a:rPr>
              <a:t> &lt;= 0.05</a:t>
            </a:r>
          </a:p>
          <a:p>
            <a:pPr lvl="1"/>
            <a:r>
              <a:rPr lang="en-US" dirty="0">
                <a:solidFill>
                  <a:srgbClr val="202122"/>
                </a:solidFill>
                <a:latin typeface="SBL BibLit"/>
              </a:rPr>
              <a:t>acc. below 5%</a:t>
            </a:r>
          </a:p>
          <a:p>
            <a:r>
              <a:rPr lang="en-US" dirty="0">
                <a:solidFill>
                  <a:srgbClr val="202122"/>
                </a:solidFill>
                <a:latin typeface="SBL BibLit"/>
              </a:rPr>
              <a:t>Design:</a:t>
            </a:r>
          </a:p>
          <a:p>
            <a:pPr lvl="1"/>
            <a:r>
              <a:rPr lang="en-US" dirty="0">
                <a:solidFill>
                  <a:srgbClr val="202122"/>
                </a:solidFill>
                <a:latin typeface="SBL BibLit"/>
              </a:rPr>
              <a:t>The loss is the same as the training loss</a:t>
            </a:r>
          </a:p>
          <a:p>
            <a:pPr lvl="1"/>
            <a:r>
              <a:rPr lang="en-US" dirty="0">
                <a:solidFill>
                  <a:srgbClr val="202122"/>
                </a:solidFill>
                <a:latin typeface="SBL BibLit"/>
              </a:rPr>
              <a:t>When training, decrements the parameters by the loss</a:t>
            </a:r>
          </a:p>
          <a:p>
            <a:pPr lvl="1"/>
            <a:r>
              <a:rPr lang="en-US" dirty="0">
                <a:solidFill>
                  <a:srgbClr val="202122"/>
                </a:solidFill>
                <a:latin typeface="SBL BibLit"/>
              </a:rPr>
              <a:t>When adversarial learning, increment the input by the loss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1.2 targeted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the model to output given wrong class (target), rather than randomly classes.</a:t>
            </a:r>
          </a:p>
          <a:p>
            <a:r>
              <a:rPr lang="en-US" dirty="0"/>
              <a:t>Still use FGSM</a:t>
            </a:r>
          </a:p>
          <a:p>
            <a:r>
              <a:rPr lang="en-US" dirty="0"/>
              <a:t>Different loss:</a:t>
            </a:r>
          </a:p>
          <a:p>
            <a:pPr lvl="1"/>
            <a:r>
              <a:rPr lang="en-US" dirty="0"/>
              <a:t>like training, minimize the loss from the probability (target class) to input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Backdoor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modify a portion of training data.</a:t>
            </a:r>
          </a:p>
          <a:p>
            <a:pPr lvl="1"/>
            <a:r>
              <a:rPr lang="en-US" dirty="0"/>
              <a:t>Portion:  </a:t>
            </a:r>
            <a:r>
              <a:rPr lang="el-GR" dirty="0"/>
              <a:t>η</a:t>
            </a:r>
            <a:endParaRPr lang="en-US" dirty="0"/>
          </a:p>
          <a:p>
            <a:pPr lvl="1"/>
            <a:r>
              <a:rPr lang="en-US" dirty="0"/>
              <a:t>Add a trigger in the training picture at fixed position</a:t>
            </a:r>
          </a:p>
          <a:p>
            <a:pPr lvl="1"/>
            <a:r>
              <a:rPr lang="en-US" dirty="0"/>
              <a:t>Make the output class always 1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l-GR" dirty="0"/>
              <a:t>η</a:t>
            </a:r>
            <a:r>
              <a:rPr lang="en-US" dirty="0"/>
              <a:t>: 1%</a:t>
            </a:r>
          </a:p>
          <a:p>
            <a:pPr lvl="1"/>
            <a:r>
              <a:rPr lang="en-US" dirty="0"/>
              <a:t>accuracy: 95%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0E2DE3-4DE9-4164-87F0-B91977C3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153" y="4161184"/>
            <a:ext cx="8248865" cy="21507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19CDA98-1710-4225-A443-45174DED7FDD}"/>
              </a:ext>
            </a:extLst>
          </p:cNvPr>
          <p:cNvSpPr/>
          <p:nvPr/>
        </p:nvSpPr>
        <p:spPr>
          <a:xfrm>
            <a:off x="5108171" y="5723071"/>
            <a:ext cx="448888" cy="3078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400</Words>
  <Application>Microsoft Office PowerPoint</Application>
  <PresentationFormat>宽屏</PresentationFormat>
  <Paragraphs>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SBL BibLit</vt:lpstr>
      <vt:lpstr>source-serif-pro</vt:lpstr>
      <vt:lpstr>Arial</vt:lpstr>
      <vt:lpstr>Calibri</vt:lpstr>
      <vt:lpstr>Calibri Light</vt:lpstr>
      <vt:lpstr>Office Theme</vt:lpstr>
      <vt:lpstr>Lab4 AI Security</vt:lpstr>
      <vt:lpstr>Environment</vt:lpstr>
      <vt:lpstr>Model Structure</vt:lpstr>
      <vt:lpstr>Pytorch Autograd</vt:lpstr>
      <vt:lpstr>Model Training</vt:lpstr>
      <vt:lpstr>Task 1 Adversarial Examples</vt:lpstr>
      <vt:lpstr>Task 1.1 untargeted attack</vt:lpstr>
      <vt:lpstr>Task 1.2 targeted attack</vt:lpstr>
      <vt:lpstr>Task 2: Backdoor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Lab4 AI Security</dc:title>
  <dc:creator>chou zhe</dc:creator>
  <cp:lastModifiedBy>chou zhe</cp:lastModifiedBy>
  <cp:revision>10</cp:revision>
  <dcterms:created xsi:type="dcterms:W3CDTF">2025-04-27T09:30:00Z</dcterms:created>
  <dcterms:modified xsi:type="dcterms:W3CDTF">2026-05-24T14:53:28Z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C18013DCD1BF4ECA85ADB918CBDFB96E_12</vt:lpwstr>
  </property>
  <property fmtid="{D5CDD505-2E9C-101B-9397-08002B2CF9AE}" pid="3" name="KSOProductBuildVer">
    <vt:lpwstr>2052-12.1.0.26375</vt:lpwstr>
  </property>
</Properties>
</file>